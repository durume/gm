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9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634167-BD60-4EB4-9407-F4A2580A68B1}" v="2" dt="2025-01-17T06:22:24.7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54" y="29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12" Type="http://schemas.openxmlformats.org/officeDocument/2006/relationships/customXml" Target="../customXml/item3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11" Type="http://schemas.openxmlformats.org/officeDocument/2006/relationships/customXml" Target="../customXml/item2.xml"/><Relationship Id="rId5" Type="http://schemas.openxmlformats.org/officeDocument/2006/relationships/viewProps" Target="viewProps.xml"/><Relationship Id="rId10" Type="http://schemas.openxmlformats.org/officeDocument/2006/relationships/customXml" Target="../customXml/item1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hee LEE" userId="09c8dbec-d7ab-42c6-b643-7137be80f980" providerId="ADAL" clId="{62634167-BD60-4EB4-9407-F4A2580A68B1}"/>
    <pc:docChg chg="custSel modSld">
      <pc:chgData name="Inhee LEE" userId="09c8dbec-d7ab-42c6-b643-7137be80f980" providerId="ADAL" clId="{62634167-BD60-4EB4-9407-F4A2580A68B1}" dt="2025-01-17T06:23:12.707" v="36" actId="14100"/>
      <pc:docMkLst>
        <pc:docMk/>
      </pc:docMkLst>
      <pc:sldChg chg="addSp delSp modSp mod">
        <pc:chgData name="Inhee LEE" userId="09c8dbec-d7ab-42c6-b643-7137be80f980" providerId="ADAL" clId="{62634167-BD60-4EB4-9407-F4A2580A68B1}" dt="2025-01-17T06:23:12.707" v="36" actId="14100"/>
        <pc:sldMkLst>
          <pc:docMk/>
          <pc:sldMk cId="3648536757" sldId="257"/>
        </pc:sldMkLst>
        <pc:spChg chg="add del mod">
          <ac:chgData name="Inhee LEE" userId="09c8dbec-d7ab-42c6-b643-7137be80f980" providerId="ADAL" clId="{62634167-BD60-4EB4-9407-F4A2580A68B1}" dt="2025-01-17T06:21:51.410" v="8" actId="478"/>
          <ac:spMkLst>
            <pc:docMk/>
            <pc:sldMk cId="3648536757" sldId="257"/>
            <ac:spMk id="10" creationId="{66F64D08-4D97-F250-B538-EE0768B263D4}"/>
          </ac:spMkLst>
        </pc:spChg>
        <pc:spChg chg="add mod">
          <ac:chgData name="Inhee LEE" userId="09c8dbec-d7ab-42c6-b643-7137be80f980" providerId="ADAL" clId="{62634167-BD60-4EB4-9407-F4A2580A68B1}" dt="2025-01-17T06:22:51.104" v="30" actId="1076"/>
          <ac:spMkLst>
            <pc:docMk/>
            <pc:sldMk cId="3648536757" sldId="257"/>
            <ac:spMk id="11" creationId="{246ADFB1-0792-B1FF-27F1-22D91CE00B91}"/>
          </ac:spMkLst>
        </pc:spChg>
        <pc:picChg chg="add mod">
          <ac:chgData name="Inhee LEE" userId="09c8dbec-d7ab-42c6-b643-7137be80f980" providerId="ADAL" clId="{62634167-BD60-4EB4-9407-F4A2580A68B1}" dt="2025-01-17T06:23:12.707" v="36" actId="14100"/>
          <ac:picMkLst>
            <pc:docMk/>
            <pc:sldMk cId="3648536757" sldId="257"/>
            <ac:picMk id="3" creationId="{1BE76B52-19C1-A8DB-AEA5-90B666D7E654}"/>
          </ac:picMkLst>
        </pc:picChg>
        <pc:picChg chg="add mod">
          <ac:chgData name="Inhee LEE" userId="09c8dbec-d7ab-42c6-b643-7137be80f980" providerId="ADAL" clId="{62634167-BD60-4EB4-9407-F4A2580A68B1}" dt="2025-01-17T06:23:03.546" v="35" actId="1076"/>
          <ac:picMkLst>
            <pc:docMk/>
            <pc:sldMk cId="3648536757" sldId="257"/>
            <ac:picMk id="9" creationId="{7948FFE4-DD21-FE58-E533-EB1A50885F4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3E3061-B777-4E6E-9369-B2230E63A9D0}" type="datetimeFigureOut">
              <a:rPr lang="ko-KR" altLang="en-US" smtClean="0"/>
              <a:t>2025-01-17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5315DA-74A6-4A15-A249-FB61BEC82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007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80CA65-AFDA-44A3-932A-6C7F180A68B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9328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494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802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jesseyates.com/2013/06/11/hbase-consistent-secondary-indexing.html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medium.com/guerilla-career/microsoft-mvp-award-the-advantages-and-the-sacrifice-required-by-it-8957b83e3fdf" TargetMode="External"/><Relationship Id="rId4" Type="http://schemas.openxmlformats.org/officeDocument/2006/relationships/hyperlink" Target="https://en.wikipedia.org/wiki/Microsoft_Most_Valuable_Professiona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70C0"/>
            </a:gs>
            <a:gs pos="100000">
              <a:srgbClr val="002060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746C74-993A-DC2A-B84F-E0F45E22547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7140" r="161" b="6706"/>
          <a:stretch/>
        </p:blipFill>
        <p:spPr>
          <a:xfrm>
            <a:off x="523455" y="970538"/>
            <a:ext cx="3661752" cy="3661752"/>
          </a:xfrm>
          <a:custGeom>
            <a:avLst/>
            <a:gdLst>
              <a:gd name="connsiteX0" fmla="*/ 1830876 w 3661752"/>
              <a:gd name="connsiteY0" fmla="*/ 0 h 3661752"/>
              <a:gd name="connsiteX1" fmla="*/ 3661752 w 3661752"/>
              <a:gd name="connsiteY1" fmla="*/ 1830876 h 3661752"/>
              <a:gd name="connsiteX2" fmla="*/ 1830876 w 3661752"/>
              <a:gd name="connsiteY2" fmla="*/ 3661752 h 3661752"/>
              <a:gd name="connsiteX3" fmla="*/ 0 w 3661752"/>
              <a:gd name="connsiteY3" fmla="*/ 1830876 h 3661752"/>
              <a:gd name="connsiteX4" fmla="*/ 1830876 w 3661752"/>
              <a:gd name="connsiteY4" fmla="*/ 0 h 3661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61752" h="3661752">
                <a:moveTo>
                  <a:pt x="1830876" y="0"/>
                </a:moveTo>
                <a:cubicBezTo>
                  <a:pt x="2842041" y="0"/>
                  <a:pt x="3661752" y="819711"/>
                  <a:pt x="3661752" y="1830876"/>
                </a:cubicBezTo>
                <a:cubicBezTo>
                  <a:pt x="3661752" y="2842041"/>
                  <a:pt x="2842041" y="3661752"/>
                  <a:pt x="1830876" y="3661752"/>
                </a:cubicBezTo>
                <a:cubicBezTo>
                  <a:pt x="819711" y="3661752"/>
                  <a:pt x="0" y="2842041"/>
                  <a:pt x="0" y="1830876"/>
                </a:cubicBezTo>
                <a:cubicBezTo>
                  <a:pt x="0" y="819711"/>
                  <a:pt x="819711" y="0"/>
                  <a:pt x="1830876" y="0"/>
                </a:cubicBezTo>
                <a:close/>
              </a:path>
            </a:pathLst>
          </a:cu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F6CF415-50F7-45E7-9A35-637816D03D54}"/>
              </a:ext>
            </a:extLst>
          </p:cNvPr>
          <p:cNvSpPr txBox="1"/>
          <p:nvPr/>
        </p:nvSpPr>
        <p:spPr>
          <a:xfrm>
            <a:off x="4724295" y="217222"/>
            <a:ext cx="6561573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solidFill>
                  <a:schemeClr val="bg1"/>
                </a:solidFill>
              </a:rPr>
              <a:t>이인희</a:t>
            </a:r>
            <a:endParaRPr lang="en-US" altLang="ko-KR" sz="3200" dirty="0">
              <a:solidFill>
                <a:schemeClr val="bg1"/>
              </a:solidFill>
            </a:endParaRP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ko-KR" altLang="en-US" sz="1600" b="1" dirty="0">
                <a:solidFill>
                  <a:schemeClr val="bg1"/>
                </a:solidFill>
              </a:rPr>
              <a:t>현재</a:t>
            </a:r>
            <a:r>
              <a:rPr lang="en-US" altLang="ko-KR" sz="1600" b="1" dirty="0">
                <a:solidFill>
                  <a:schemeClr val="bg1"/>
                </a:solidFill>
              </a:rPr>
              <a:t>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chemeClr val="bg1"/>
                </a:solidFill>
              </a:rPr>
              <a:t>파란두루미주식회사 대표이사</a:t>
            </a:r>
            <a:endParaRPr lang="en-US" altLang="ko-KR" sz="16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 err="1">
                <a:solidFill>
                  <a:schemeClr val="bg1"/>
                </a:solidFill>
              </a:rPr>
              <a:t>행정사</a:t>
            </a:r>
            <a:r>
              <a:rPr lang="en-US" altLang="ko-KR" sz="1600" dirty="0">
                <a:solidFill>
                  <a:schemeClr val="bg1"/>
                </a:solidFill>
              </a:rPr>
              <a:t>(</a:t>
            </a:r>
            <a:r>
              <a:rPr lang="ko-KR" altLang="en-US" sz="1600" dirty="0">
                <a:solidFill>
                  <a:schemeClr val="bg1"/>
                </a:solidFill>
              </a:rPr>
              <a:t>일반</a:t>
            </a:r>
            <a:r>
              <a:rPr lang="en-US" altLang="ko-KR" sz="1600" dirty="0">
                <a:solidFill>
                  <a:schemeClr val="bg1"/>
                </a:solidFill>
              </a:rPr>
              <a:t>, </a:t>
            </a:r>
            <a:r>
              <a:rPr lang="ko-KR" altLang="en-US" sz="1600" dirty="0">
                <a:solidFill>
                  <a:schemeClr val="bg1"/>
                </a:solidFill>
              </a:rPr>
              <a:t>외국어번역</a:t>
            </a:r>
            <a:r>
              <a:rPr lang="en-US" altLang="ko-KR" sz="1600" dirty="0">
                <a:solidFill>
                  <a:schemeClr val="bg1"/>
                </a:solidFill>
              </a:rPr>
              <a:t>-</a:t>
            </a:r>
            <a:r>
              <a:rPr lang="ko-KR" altLang="en-US" sz="1600" dirty="0">
                <a:solidFill>
                  <a:schemeClr val="bg1"/>
                </a:solidFill>
              </a:rPr>
              <a:t>영어</a:t>
            </a:r>
            <a:r>
              <a:rPr lang="en-US" altLang="ko-KR" sz="1600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/>
                </a:solidFill>
              </a:rPr>
              <a:t>MS MVP(Business Application)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chemeClr val="bg1"/>
                </a:solidFill>
              </a:rPr>
              <a:t>공적개발원조</a:t>
            </a:r>
            <a:r>
              <a:rPr lang="en-US" altLang="ko-KR" sz="1600" dirty="0">
                <a:solidFill>
                  <a:schemeClr val="bg1"/>
                </a:solidFill>
              </a:rPr>
              <a:t>(ODA) </a:t>
            </a:r>
            <a:r>
              <a:rPr lang="ko-KR" altLang="en-US" sz="1600" dirty="0">
                <a:solidFill>
                  <a:schemeClr val="bg1"/>
                </a:solidFill>
              </a:rPr>
              <a:t>사업가</a:t>
            </a:r>
            <a:r>
              <a:rPr lang="en-US" altLang="ko-KR" sz="1600" dirty="0">
                <a:solidFill>
                  <a:schemeClr val="bg1"/>
                </a:solidFill>
              </a:rPr>
              <a:t> – ODA </a:t>
            </a:r>
            <a:r>
              <a:rPr lang="ko-KR" altLang="en-US" sz="1600" dirty="0">
                <a:solidFill>
                  <a:schemeClr val="bg1"/>
                </a:solidFill>
              </a:rPr>
              <a:t>일반자격증</a:t>
            </a:r>
            <a:r>
              <a:rPr lang="en-US" altLang="ko-KR" sz="1600" dirty="0">
                <a:solidFill>
                  <a:schemeClr val="bg1"/>
                </a:solidFill>
              </a:rPr>
              <a:t>(KOICA </a:t>
            </a:r>
            <a:r>
              <a:rPr lang="ko-KR" altLang="en-US" sz="1600" dirty="0">
                <a:solidFill>
                  <a:schemeClr val="bg1"/>
                </a:solidFill>
              </a:rPr>
              <a:t>발급</a:t>
            </a:r>
            <a:r>
              <a:rPr lang="en-US" altLang="ko-KR" sz="1600" dirty="0">
                <a:solidFill>
                  <a:schemeClr val="bg1"/>
                </a:solidFill>
              </a:rPr>
              <a:t>)</a:t>
            </a:r>
          </a:p>
          <a:p>
            <a:endParaRPr lang="en-US" altLang="ko-KR" sz="1600" dirty="0">
              <a:solidFill>
                <a:schemeClr val="bg1"/>
              </a:solidFill>
            </a:endParaRPr>
          </a:p>
          <a:p>
            <a:r>
              <a:rPr lang="ko-KR" altLang="en-US" sz="1600" b="1" dirty="0">
                <a:solidFill>
                  <a:schemeClr val="bg1"/>
                </a:solidFill>
              </a:rPr>
              <a:t>경력</a:t>
            </a:r>
            <a:r>
              <a:rPr lang="en-US" altLang="ko-KR" sz="1600" dirty="0">
                <a:solidFill>
                  <a:schemeClr val="bg1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/>
                </a:solidFill>
              </a:rPr>
              <a:t>2025 CES </a:t>
            </a:r>
            <a:r>
              <a:rPr lang="ko-KR" altLang="en-US" sz="1600" dirty="0">
                <a:solidFill>
                  <a:schemeClr val="bg1"/>
                </a:solidFill>
              </a:rPr>
              <a:t>참가 </a:t>
            </a:r>
            <a:r>
              <a:rPr lang="en-US" altLang="ko-KR" sz="1600" dirty="0">
                <a:solidFill>
                  <a:schemeClr val="bg1"/>
                </a:solidFill>
              </a:rPr>
              <a:t>– </a:t>
            </a:r>
            <a:r>
              <a:rPr lang="ko-KR" altLang="en-US" sz="1600" dirty="0">
                <a:solidFill>
                  <a:schemeClr val="bg1"/>
                </a:solidFill>
              </a:rPr>
              <a:t>컴퓨터 기반 </a:t>
            </a:r>
            <a:r>
              <a:rPr lang="en-US" altLang="ko-KR" sz="1600" dirty="0">
                <a:solidFill>
                  <a:schemeClr val="bg1"/>
                </a:solidFill>
              </a:rPr>
              <a:t>XR </a:t>
            </a:r>
            <a:r>
              <a:rPr lang="ko-KR" altLang="en-US" sz="1600" dirty="0">
                <a:solidFill>
                  <a:schemeClr val="bg1"/>
                </a:solidFill>
              </a:rPr>
              <a:t>솔루션</a:t>
            </a:r>
            <a:endParaRPr lang="en-US" altLang="ko-KR" sz="16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/>
                </a:solidFill>
              </a:rPr>
              <a:t>2024 </a:t>
            </a:r>
            <a:r>
              <a:rPr lang="ko-KR" altLang="en-US" sz="1600" dirty="0">
                <a:solidFill>
                  <a:schemeClr val="bg1"/>
                </a:solidFill>
              </a:rPr>
              <a:t>서울시 의회의원 대상 강좌</a:t>
            </a:r>
            <a:r>
              <a:rPr lang="en-US" altLang="ko-KR" sz="1600" dirty="0">
                <a:solidFill>
                  <a:schemeClr val="bg1"/>
                </a:solidFill>
              </a:rPr>
              <a:t>(</a:t>
            </a:r>
            <a:r>
              <a:rPr lang="ko-KR" altLang="en-US" sz="1600" dirty="0">
                <a:solidFill>
                  <a:schemeClr val="bg1"/>
                </a:solidFill>
              </a:rPr>
              <a:t>시의정 활동과 생성형 </a:t>
            </a:r>
            <a:r>
              <a:rPr lang="en-US" altLang="ko-KR" sz="1600" dirty="0">
                <a:solidFill>
                  <a:schemeClr val="bg1"/>
                </a:solidFill>
              </a:rPr>
              <a:t>AI</a:t>
            </a:r>
            <a:r>
              <a:rPr lang="ko-KR" altLang="en-US" sz="1600" dirty="0">
                <a:solidFill>
                  <a:schemeClr val="bg1"/>
                </a:solidFill>
              </a:rPr>
              <a:t> 활용</a:t>
            </a:r>
            <a:r>
              <a:rPr lang="en-US" altLang="ko-KR" sz="1600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/>
                </a:solidFill>
              </a:rPr>
              <a:t>2024 </a:t>
            </a:r>
            <a:r>
              <a:rPr lang="ko-KR" altLang="en-US" sz="1600" dirty="0">
                <a:solidFill>
                  <a:schemeClr val="bg1"/>
                </a:solidFill>
              </a:rPr>
              <a:t>서울 양재 </a:t>
            </a:r>
            <a:r>
              <a:rPr lang="en-US" altLang="ko-KR" sz="1600" dirty="0">
                <a:solidFill>
                  <a:schemeClr val="bg1"/>
                </a:solidFill>
              </a:rPr>
              <a:t>AI </a:t>
            </a:r>
            <a:r>
              <a:rPr lang="ko-KR" altLang="en-US" sz="1600" dirty="0">
                <a:solidFill>
                  <a:schemeClr val="bg1"/>
                </a:solidFill>
              </a:rPr>
              <a:t>허브 시민강좌 </a:t>
            </a:r>
            <a:r>
              <a:rPr lang="en-US" altLang="ko-KR" sz="1600" dirty="0">
                <a:solidFill>
                  <a:schemeClr val="bg1"/>
                </a:solidFill>
              </a:rPr>
              <a:t>(</a:t>
            </a:r>
            <a:r>
              <a:rPr lang="ko-KR" altLang="en-US" sz="1600" dirty="0">
                <a:solidFill>
                  <a:schemeClr val="bg1"/>
                </a:solidFill>
              </a:rPr>
              <a:t>생셩형 </a:t>
            </a:r>
            <a:r>
              <a:rPr lang="en-US" altLang="ko-KR" sz="1600" dirty="0">
                <a:solidFill>
                  <a:schemeClr val="bg1"/>
                </a:solidFill>
              </a:rPr>
              <a:t>AI</a:t>
            </a:r>
            <a:r>
              <a:rPr lang="ko-KR" altLang="en-US" sz="1600" dirty="0">
                <a:solidFill>
                  <a:schemeClr val="bg1"/>
                </a:solidFill>
              </a:rPr>
              <a:t>와 로우코드</a:t>
            </a:r>
            <a:r>
              <a:rPr lang="en-US" altLang="ko-KR" sz="1600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/>
                </a:solidFill>
              </a:rPr>
              <a:t>2023, 2024 </a:t>
            </a:r>
            <a:r>
              <a:rPr lang="ko-KR" altLang="en-US" sz="1600" dirty="0">
                <a:solidFill>
                  <a:schemeClr val="bg1"/>
                </a:solidFill>
              </a:rPr>
              <a:t>글로벌 파워플랫폼 부트캠프 공동 주최 및 발표</a:t>
            </a:r>
            <a:endParaRPr lang="en-US" altLang="ko-KR" sz="16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/>
                </a:solidFill>
              </a:rPr>
              <a:t>2022 MS 600, 700 Virtual Training Trainer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/>
                </a:solidFill>
              </a:rPr>
              <a:t>2019 </a:t>
            </a:r>
            <a:r>
              <a:rPr lang="ko-KR" altLang="en-US" sz="1600" dirty="0">
                <a:solidFill>
                  <a:schemeClr val="bg1"/>
                </a:solidFill>
              </a:rPr>
              <a:t>사회적협동조합 데브옵스코리아 운영진</a:t>
            </a:r>
            <a:endParaRPr lang="en-US" altLang="ko-KR" sz="16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/>
                </a:solidFill>
              </a:rPr>
              <a:t>2019 </a:t>
            </a:r>
            <a:r>
              <a:rPr lang="ko-KR" altLang="en-US" sz="1600" dirty="0">
                <a:solidFill>
                  <a:schemeClr val="bg1"/>
                </a:solidFill>
              </a:rPr>
              <a:t>서울 챗봇톤 심사위원</a:t>
            </a:r>
            <a:endParaRPr lang="en-US" altLang="ko-KR" sz="16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/>
                </a:solidFill>
              </a:rPr>
              <a:t>2019 Certified RPA Trainer(Automation Anywhere)</a:t>
            </a: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ko-KR" altLang="en-US" sz="1600" b="1" dirty="0">
                <a:solidFill>
                  <a:schemeClr val="bg1"/>
                </a:solidFill>
              </a:rPr>
              <a:t>관심분야</a:t>
            </a:r>
            <a:r>
              <a:rPr lang="en-US" altLang="ko-KR" sz="1600" b="1" dirty="0">
                <a:solidFill>
                  <a:schemeClr val="bg1"/>
                </a:solidFill>
              </a:rPr>
              <a:t>:</a:t>
            </a:r>
          </a:p>
          <a:p>
            <a:r>
              <a:rPr lang="ko-KR" altLang="en-US" sz="1600" dirty="0">
                <a:solidFill>
                  <a:schemeClr val="bg1"/>
                </a:solidFill>
              </a:rPr>
              <a:t>인공지능</a:t>
            </a:r>
            <a:r>
              <a:rPr lang="en-US" altLang="ko-KR" sz="1600" dirty="0">
                <a:solidFill>
                  <a:schemeClr val="bg1"/>
                </a:solidFill>
              </a:rPr>
              <a:t>(</a:t>
            </a:r>
            <a:r>
              <a:rPr lang="ko-KR" altLang="en-US" sz="1600" dirty="0">
                <a:solidFill>
                  <a:schemeClr val="bg1"/>
                </a:solidFill>
              </a:rPr>
              <a:t>자연어처리</a:t>
            </a:r>
            <a:r>
              <a:rPr lang="en-US" altLang="ko-KR" sz="1600" dirty="0">
                <a:solidFill>
                  <a:schemeClr val="bg1"/>
                </a:solidFill>
              </a:rPr>
              <a:t>), </a:t>
            </a:r>
            <a:r>
              <a:rPr lang="en-US" altLang="ko-KR" sz="1600" dirty="0" err="1">
                <a:solidFill>
                  <a:schemeClr val="bg1"/>
                </a:solidFill>
              </a:rPr>
              <a:t>EduTech</a:t>
            </a:r>
            <a:r>
              <a:rPr lang="en-US" altLang="ko-KR" sz="1600" dirty="0">
                <a:solidFill>
                  <a:schemeClr val="bg1"/>
                </a:solidFill>
              </a:rPr>
              <a:t>, LegalTech, </a:t>
            </a:r>
            <a:r>
              <a:rPr lang="ko-KR" altLang="en-US" sz="1600" dirty="0">
                <a:solidFill>
                  <a:schemeClr val="bg1"/>
                </a:solidFill>
              </a:rPr>
              <a:t>확장현실</a:t>
            </a:r>
            <a:r>
              <a:rPr lang="en-US" altLang="ko-KR" sz="1600" dirty="0">
                <a:solidFill>
                  <a:schemeClr val="bg1"/>
                </a:solidFill>
              </a:rPr>
              <a:t>(XR, </a:t>
            </a:r>
            <a:r>
              <a:rPr lang="en-US" altLang="ko-KR" sz="1600" dirty="0" err="1">
                <a:solidFill>
                  <a:schemeClr val="bg1"/>
                </a:solidFill>
              </a:rPr>
              <a:t>eXtended</a:t>
            </a:r>
            <a:r>
              <a:rPr lang="en-US" altLang="ko-KR" sz="1600" dirty="0">
                <a:solidFill>
                  <a:schemeClr val="bg1"/>
                </a:solidFill>
              </a:rPr>
              <a:t> Reality), </a:t>
            </a:r>
            <a:r>
              <a:rPr lang="ko-KR" altLang="en-US" sz="1600" dirty="0">
                <a:solidFill>
                  <a:schemeClr val="bg1"/>
                </a:solidFill>
              </a:rPr>
              <a:t>공적개발원조</a:t>
            </a:r>
            <a:r>
              <a:rPr lang="en-US" altLang="ko-KR" sz="1600" dirty="0">
                <a:solidFill>
                  <a:schemeClr val="bg1"/>
                </a:solidFill>
              </a:rPr>
              <a:t>(ODA, Official Development Assistance), </a:t>
            </a:r>
            <a:r>
              <a:rPr lang="ko-KR" altLang="en-US" sz="1600" dirty="0">
                <a:solidFill>
                  <a:schemeClr val="bg1"/>
                </a:solidFill>
              </a:rPr>
              <a:t>스마트 팜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ko-KR" altLang="en-US" sz="1600" dirty="0">
                <a:solidFill>
                  <a:schemeClr val="bg1"/>
                </a:solidFill>
              </a:rPr>
              <a:t>등</a:t>
            </a:r>
            <a:endParaRPr lang="en-US" altLang="ko-KR" sz="1600" dirty="0">
              <a:solidFill>
                <a:schemeClr val="bg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31B3A2DC-DF95-C778-877E-47C37F9E6D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450" y="6134190"/>
            <a:ext cx="1130450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200" b="1" i="0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참고</a:t>
            </a:r>
            <a:r>
              <a:rPr kumimoji="0" lang="en-US" altLang="ko-KR" sz="1200" b="1" i="0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ko-KR" altLang="ko-KR" sz="1200" b="1" i="0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Microsoft MVP (</a:t>
            </a:r>
            <a:r>
              <a:rPr kumimoji="0" lang="ko-KR" altLang="ko-KR" sz="1200" b="1" i="0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Most</a:t>
            </a:r>
            <a:r>
              <a:rPr kumimoji="0" lang="ko-KR" altLang="ko-KR" sz="1200" b="1" i="0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200" b="1" i="0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Valuable</a:t>
            </a:r>
            <a:r>
              <a:rPr kumimoji="0" lang="ko-KR" altLang="ko-KR" sz="1200" b="1" i="0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Professional)</a:t>
            </a:r>
            <a:r>
              <a:rPr kumimoji="0" lang="ko-KR" altLang="ko-KR" sz="1200" b="0" i="0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는 Microsoft에서 ＂커뮤니티와 지식을 열정적으로 공유하는 기술 </a:t>
            </a:r>
            <a:r>
              <a:rPr kumimoji="0" lang="ko-KR" altLang="ko-KR" sz="1200" b="0" i="0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전문가＂에게</a:t>
            </a:r>
            <a:r>
              <a:rPr kumimoji="0" lang="ko-KR" altLang="ko-KR" sz="1200" b="0" i="0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수여하는 상입니다. </a:t>
            </a:r>
            <a:r>
              <a:rPr kumimoji="0" lang="ko-KR" altLang="ko-KR" sz="1200" b="0" i="0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이 상은 Microsoft과 직접 또는 간접적으로 관련된 다양한 기술 커뮤니티에서 활동하며 기술 전문성을 나누는 사람들에게 수여됩니다</a:t>
            </a:r>
            <a:r>
              <a:rPr kumimoji="0" lang="ko-KR" altLang="ko-KR" sz="1200" b="0" i="0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-apple-system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MVP </a:t>
            </a:r>
            <a:r>
              <a:rPr lang="ko-KR" altLang="en-US" sz="1200" b="0" i="0" dirty="0">
                <a:solidFill>
                  <a:schemeClr val="bg1"/>
                </a:solidFill>
                <a:effectLst/>
                <a:latin typeface="-apple-system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상은 기술 업계에서 큰 존경을 받으며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-apple-system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 </a:t>
            </a:r>
            <a:r>
              <a:rPr lang="ko-KR" altLang="en-US" sz="1200" b="0" i="0" dirty="0">
                <a:solidFill>
                  <a:schemeClr val="bg1"/>
                </a:solidFill>
                <a:effectLst/>
                <a:latin typeface="-apple-system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기술 지식을 나누고 제품을 개선하는 데 기여하는 뛰어난 기술 전문가들에게 매우 가치 있는 상입니다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-apple-system"/>
              </a:rPr>
              <a:t>. – </a:t>
            </a:r>
            <a:r>
              <a:rPr lang="ko-KR" altLang="en-US" sz="1200" b="0" i="0" dirty="0">
                <a:solidFill>
                  <a:schemeClr val="bg1"/>
                </a:solidFill>
                <a:effectLst/>
                <a:latin typeface="-apple-system"/>
              </a:rPr>
              <a:t>출처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-apple-system"/>
              </a:rPr>
              <a:t>: MS MVP </a:t>
            </a:r>
            <a:r>
              <a:rPr lang="ko-KR" altLang="en-US" sz="1200" b="0" i="0" dirty="0">
                <a:solidFill>
                  <a:schemeClr val="bg1"/>
                </a:solidFill>
                <a:effectLst/>
                <a:latin typeface="-apple-system"/>
              </a:rPr>
              <a:t>페이지 및 소개자료</a:t>
            </a:r>
            <a:endParaRPr kumimoji="0" lang="ko-KR" altLang="ko-KR" sz="1200" b="0" i="0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0232EF-F287-9975-01FD-C7E9052AF7C3}"/>
              </a:ext>
            </a:extLst>
          </p:cNvPr>
          <p:cNvSpPr txBox="1"/>
          <p:nvPr/>
        </p:nvSpPr>
        <p:spPr>
          <a:xfrm>
            <a:off x="4752870" y="0"/>
            <a:ext cx="180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BE76B52-19C1-A8DB-AEA5-90B666D7E6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528" y="160379"/>
            <a:ext cx="1214427" cy="1214427"/>
          </a:xfrm>
          <a:prstGeom prst="rect">
            <a:avLst/>
          </a:prstGeom>
        </p:spPr>
      </p:pic>
      <p:pic>
        <p:nvPicPr>
          <p:cNvPr id="9" name="Picture 8" descr="A blue circle with white letters on it&#10;&#10;Description automatically generated">
            <a:extLst>
              <a:ext uri="{FF2B5EF4-FFF2-40B4-BE49-F238E27FC236}">
                <a16:creationId xmlns:a16="http://schemas.microsoft.com/office/drawing/2014/main" id="{7948FFE4-DD21-FE58-E533-EB1A50885F4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11492364" y="1374806"/>
            <a:ext cx="440349" cy="44034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46ADFB1-0792-B1FF-27F1-22D91CE00B91}"/>
              </a:ext>
            </a:extLst>
          </p:cNvPr>
          <p:cNvSpPr txBox="1"/>
          <p:nvPr/>
        </p:nvSpPr>
        <p:spPr>
          <a:xfrm>
            <a:off x="10500188" y="1407362"/>
            <a:ext cx="1079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LinkedIn</a:t>
            </a:r>
          </a:p>
        </p:txBody>
      </p:sp>
    </p:spTree>
    <p:extLst>
      <p:ext uri="{BB962C8B-B14F-4D97-AF65-F5344CB8AC3E}">
        <p14:creationId xmlns:p14="http://schemas.microsoft.com/office/powerpoint/2010/main" val="3648536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theme/theme1.xml><?xml version="1.0" encoding="utf-8"?>
<a:theme xmlns:a="http://schemas.openxmlformats.org/drawingml/2006/main" name="AccentBoxVTI">
  <a:themeElements>
    <a:clrScheme name="AnalogousFromLightSeedRightStep">
      <a:dk1>
        <a:srgbClr val="000000"/>
      </a:dk1>
      <a:lt1>
        <a:srgbClr val="FFFFFF"/>
      </a:lt1>
      <a:dk2>
        <a:srgbClr val="2C2441"/>
      </a:dk2>
      <a:lt2>
        <a:srgbClr val="E8E2E4"/>
      </a:lt2>
      <a:accent1>
        <a:srgbClr val="81AA9A"/>
      </a:accent1>
      <a:accent2>
        <a:srgbClr val="74A9AA"/>
      </a:accent2>
      <a:accent3>
        <a:srgbClr val="86A5BE"/>
      </a:accent3>
      <a:accent4>
        <a:srgbClr val="7F87BA"/>
      </a:accent4>
      <a:accent5>
        <a:srgbClr val="A396C6"/>
      </a:accent5>
      <a:accent6>
        <a:srgbClr val="A87FBA"/>
      </a:accent6>
      <a:hlink>
        <a:srgbClr val="AE6984"/>
      </a:hlink>
      <a:folHlink>
        <a:srgbClr val="7F7F7F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9C4D2C766D8D8439BE1066AE870F215" ma:contentTypeVersion="11" ma:contentTypeDescription="Create a new document." ma:contentTypeScope="" ma:versionID="0e5ea09796815a2c9ed02bfcc9466cc6">
  <xsd:schema xmlns:xsd="http://www.w3.org/2001/XMLSchema" xmlns:xs="http://www.w3.org/2001/XMLSchema" xmlns:p="http://schemas.microsoft.com/office/2006/metadata/properties" xmlns:ns2="25391028-02bd-44eb-89ce-c859de1c4f55" targetNamespace="http://schemas.microsoft.com/office/2006/metadata/properties" ma:root="true" ma:fieldsID="a0a83ed2f31bcef1767f4f6a660e5553" ns2:_="">
    <xsd:import namespace="25391028-02bd-44eb-89ce-c859de1c4f5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2:MediaServiceOCR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5391028-02bd-44eb-89ce-c859de1c4f5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2c80db7e-f82a-4f67-ad39-cc0146d5555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8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5391028-02bd-44eb-89ce-c859de1c4f55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17056C13-2972-426E-9D25-47BC1CC9CAE4}"/>
</file>

<file path=customXml/itemProps2.xml><?xml version="1.0" encoding="utf-8"?>
<ds:datastoreItem xmlns:ds="http://schemas.openxmlformats.org/officeDocument/2006/customXml" ds:itemID="{BE4474FC-8122-4EB5-B413-C69659147F6E}"/>
</file>

<file path=customXml/itemProps3.xml><?xml version="1.0" encoding="utf-8"?>
<ds:datastoreItem xmlns:ds="http://schemas.openxmlformats.org/officeDocument/2006/customXml" ds:itemID="{752BDBF3-E13A-4068-9851-9D25F5FAB605}"/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202</Words>
  <Application>Microsoft Office PowerPoint</Application>
  <PresentationFormat>Widescreen</PresentationFormat>
  <Paragraphs>23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-apple-system</vt:lpstr>
      <vt:lpstr>맑은 고딕</vt:lpstr>
      <vt:lpstr>Arial</vt:lpstr>
      <vt:lpstr>Avenir Next LT Pro</vt:lpstr>
      <vt:lpstr>AccentBoxVTI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Inhee LEE</dc:creator>
  <cp:lastModifiedBy>Inhee LEE</cp:lastModifiedBy>
  <cp:revision>2</cp:revision>
  <dcterms:created xsi:type="dcterms:W3CDTF">2024-06-04T07:52:46Z</dcterms:created>
  <dcterms:modified xsi:type="dcterms:W3CDTF">2025-01-17T06:23:21Z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0x01010089C4D2C766D8D8439BE1066AE870F215</vt:lpwstr>
  </property>
  <property fmtid="{D5CDD505-2E9C-101B-9397-08002B2CF9AE}" pid="3" name="MediaServiceImageTags">
    <vt:lpwstr/>
  </property>
</Properties>
</file>